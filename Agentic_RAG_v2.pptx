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B3358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408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Modular RAG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Knowledge Discovery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Engineering Documents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463040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99232"/>
            <a:ext cx="1642262" cy="292608"/>
          </a:xfrm>
          <a:prstGeom prst="roundRect">
            <a:avLst>
              <a:gd name="adj" fmla="val 15625"/>
            </a:avLst>
          </a:prstGeom>
          <a:solidFill>
            <a:srgbClr val="1E408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99232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Codes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36622" y="2999232"/>
            <a:ext cx="1400861" cy="292608"/>
          </a:xfrm>
          <a:prstGeom prst="roundRect">
            <a:avLst>
              <a:gd name="adj" fmla="val 15625"/>
            </a:avLst>
          </a:prstGeom>
          <a:solidFill>
            <a:srgbClr val="1E408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6622" y="2999232"/>
            <a:ext cx="1400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Manuals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74643" y="2999232"/>
            <a:ext cx="998525" cy="292608"/>
          </a:xfrm>
          <a:prstGeom prst="roundRect">
            <a:avLst>
              <a:gd name="adj" fmla="val 15625"/>
            </a:avLst>
          </a:prstGeom>
          <a:solidFill>
            <a:srgbClr val="1E408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4643" y="2999232"/>
            <a:ext cx="9985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0328" y="2999232"/>
            <a:ext cx="1481328" cy="292608"/>
          </a:xfrm>
          <a:prstGeom prst="roundRect">
            <a:avLst>
              <a:gd name="adj" fmla="val 15625"/>
            </a:avLst>
          </a:prstGeom>
          <a:solidFill>
            <a:srgbClr val="1E408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9992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526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· Retrieval-Augmented Generation · Knowledge Graphs · PageIndex · LLM Orchestration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406640" y="7315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Discovery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documents contain rich, heterogeneous data that is nearly impossible to navigate manually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" y="960120"/>
            <a:ext cx="9079992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" y="960120"/>
            <a:ext cx="4114800" cy="41833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Document 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353312"/>
            <a:ext cx="82296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" y="1463040"/>
            <a:ext cx="374904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463040"/>
            <a:ext cx="50292" cy="5303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81912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21792" y="15179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792" y="17373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ISO, ASME, IEEE, IEC, ASTM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82880" y="2084832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2880" y="2084832"/>
            <a:ext cx="50292" cy="530352"/>
          </a:xfrm>
          <a:prstGeom prst="rect">
            <a:avLst/>
          </a:prstGeom>
          <a:solidFill>
            <a:srgbClr val="1E408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03704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1792" y="21396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Manuals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21792" y="2359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Handbooks, engineering guides, datasheets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182880" y="2706624"/>
            <a:ext cx="374904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82880" y="2706624"/>
            <a:ext cx="50292" cy="5303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25496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" y="27614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Textbooks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21792" y="2980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mechanical, electrical theory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182880" y="3328416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82880" y="3328416"/>
            <a:ext cx="50292" cy="530352"/>
          </a:xfrm>
          <a:prstGeom prst="rect">
            <a:avLst/>
          </a:prstGeom>
          <a:solidFill>
            <a:srgbClr val="1E408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4728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1792" y="33832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21792" y="3602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proceedings, journals, white papers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182880" y="3950208"/>
            <a:ext cx="374904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82880" y="3950208"/>
            <a:ext cx="50292" cy="5303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069080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21792" y="40050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Reports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621792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reports, test data, case studies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4178808" y="2606040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4489704" y="2313432"/>
            <a:ext cx="18288" cy="18745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Shape 31"/>
          <p:cNvSpPr/>
          <p:nvPr/>
        </p:nvSpPr>
        <p:spPr>
          <a:xfrm>
            <a:off x="4361688" y="4151376"/>
            <a:ext cx="2743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Shape 32"/>
          <p:cNvSpPr/>
          <p:nvPr/>
        </p:nvSpPr>
        <p:spPr>
          <a:xfrm>
            <a:off x="4361688" y="2313432"/>
            <a:ext cx="2743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0" name="Text 33"/>
          <p:cNvSpPr/>
          <p:nvPr/>
        </p:nvSpPr>
        <p:spPr>
          <a:xfrm>
            <a:off x="4846320" y="1024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Multimodal Content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4846320" y="1353312"/>
            <a:ext cx="82296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2" name="Shape 35"/>
          <p:cNvSpPr/>
          <p:nvPr/>
        </p:nvSpPr>
        <p:spPr>
          <a:xfrm>
            <a:off x="4800600" y="1463040"/>
            <a:ext cx="416052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800600" y="1463040"/>
            <a:ext cx="50292" cy="530352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581912"/>
            <a:ext cx="237744" cy="23774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230368" y="151790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Text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5230368" y="1737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Clauses, specifications, procedures, descriptions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4800600" y="208483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4800600" y="2084832"/>
            <a:ext cx="50292" cy="5303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203704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230368" y="213969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Data</a:t>
            </a:r>
            <a:endParaRPr lang="en-US" sz="1050" dirty="0"/>
          </a:p>
        </p:txBody>
      </p:sp>
      <p:sp>
        <p:nvSpPr>
          <p:cNvPr id="51" name="Text 42"/>
          <p:cNvSpPr/>
          <p:nvPr/>
        </p:nvSpPr>
        <p:spPr>
          <a:xfrm>
            <a:off x="5230368" y="23591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tables, lookup charts, comparison matrices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4800600" y="2706624"/>
            <a:ext cx="416052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4800600" y="2706624"/>
            <a:ext cx="50292" cy="530352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825496"/>
            <a:ext cx="237744" cy="23774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5230368" y="27614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&amp; Diagrams</a:t>
            </a:r>
            <a:endParaRPr lang="en-US" sz="1050" dirty="0"/>
          </a:p>
        </p:txBody>
      </p:sp>
      <p:sp>
        <p:nvSpPr>
          <p:cNvPr id="56" name="Text 46"/>
          <p:cNvSpPr/>
          <p:nvPr/>
        </p:nvSpPr>
        <p:spPr>
          <a:xfrm>
            <a:off x="5230368" y="29809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Schematics, drawings, plots, flowcharts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4800600" y="3328416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4800600" y="3328416"/>
            <a:ext cx="50292" cy="5303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447288"/>
            <a:ext cx="237744" cy="237744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5230368" y="33832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Content</a:t>
            </a:r>
            <a:endParaRPr lang="en-US" sz="1050" dirty="0"/>
          </a:p>
        </p:txBody>
      </p:sp>
      <p:sp>
        <p:nvSpPr>
          <p:cNvPr id="61" name="Text 50"/>
          <p:cNvSpPr/>
          <p:nvPr/>
        </p:nvSpPr>
        <p:spPr>
          <a:xfrm>
            <a:off x="5230368" y="36027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Equations, formulas, derivations, proofs</a:t>
            </a:r>
            <a:endParaRPr lang="en-US" sz="850" dirty="0"/>
          </a:p>
        </p:txBody>
      </p:sp>
      <p:sp>
        <p:nvSpPr>
          <p:cNvPr id="62" name="Shape 51"/>
          <p:cNvSpPr/>
          <p:nvPr/>
        </p:nvSpPr>
        <p:spPr>
          <a:xfrm>
            <a:off x="4800600" y="3950208"/>
            <a:ext cx="416052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4800600" y="3950208"/>
            <a:ext cx="50292" cy="530352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069080"/>
            <a:ext cx="237744" cy="237744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5230368" y="40050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</a:t>
            </a:r>
            <a:endParaRPr lang="en-US" sz="1050" dirty="0"/>
          </a:p>
        </p:txBody>
      </p:sp>
      <p:sp>
        <p:nvSpPr>
          <p:cNvPr id="66" name="Text 54"/>
          <p:cNvSpPr/>
          <p:nvPr/>
        </p:nvSpPr>
        <p:spPr>
          <a:xfrm>
            <a:off x="5230368" y="42245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standards references, appendix links</a:t>
            </a:r>
            <a:endParaRPr lang="en-US" sz="850" dirty="0"/>
          </a:p>
        </p:txBody>
      </p:sp>
      <p:sp>
        <p:nvSpPr>
          <p:cNvPr id="67" name="Shape 55"/>
          <p:cNvSpPr/>
          <p:nvPr/>
        </p:nvSpPr>
        <p:spPr>
          <a:xfrm>
            <a:off x="64008" y="4553712"/>
            <a:ext cx="9079992" cy="5943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1168" y="4645152"/>
            <a:ext cx="274320" cy="274320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548640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researching a design problem must manually cross-reference hundreds of pages across multiple document types and data modalities — a process that takes days, not minutes. This is the challenge Agentic Modular RAG is designed to solve.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Engineering Knowledge Search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decades of transformation — from physical libraries to intelligent autonomous agents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" y="960120"/>
            <a:ext cx="9079992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944368"/>
            <a:ext cx="8412480" cy="502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Shape 7"/>
          <p:cNvSpPr/>
          <p:nvPr/>
        </p:nvSpPr>
        <p:spPr>
          <a:xfrm>
            <a:off x="8705088" y="2852928"/>
            <a:ext cx="201168" cy="23774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779776"/>
            <a:ext cx="329184" cy="329184"/>
          </a:xfrm>
          <a:prstGeom prst="ellipse">
            <a:avLst/>
          </a:prstGeom>
          <a:solidFill>
            <a:srgbClr val="1B335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6444" y="2651760"/>
            <a:ext cx="27432" cy="292608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078992"/>
            <a:ext cx="1755648" cy="1572768"/>
          </a:xfrm>
          <a:prstGeom prst="rect">
            <a:avLst/>
          </a:prstGeom>
          <a:solidFill>
            <a:srgbClr val="FFFFFF"/>
          </a:solidFill>
          <a:ln w="22860">
            <a:solidFill>
              <a:srgbClr val="1B3358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078992"/>
            <a:ext cx="1755648" cy="50292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" y="1170432"/>
            <a:ext cx="955548" cy="201168"/>
          </a:xfrm>
          <a:prstGeom prst="roundRect">
            <a:avLst>
              <a:gd name="adj" fmla="val 18182"/>
            </a:avLst>
          </a:prstGeom>
          <a:solidFill>
            <a:srgbClr val="1B3358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170432"/>
            <a:ext cx="955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PRE-DIGITAL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140817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Pre-1990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" y="15819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Search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1426464"/>
            <a:ext cx="347472" cy="3474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39496" y="1988820"/>
            <a:ext cx="64008" cy="64008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" y="192024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library browsing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9496" y="2162556"/>
            <a:ext cx="64008" cy="64008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" y="209397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cards &amp; card catalogs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39496" y="2336292"/>
            <a:ext cx="64008" cy="64008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24" name="Text 21"/>
          <p:cNvSpPr/>
          <p:nvPr/>
        </p:nvSpPr>
        <p:spPr>
          <a:xfrm>
            <a:off x="649224" y="226771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notes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39496" y="2510028"/>
            <a:ext cx="64008" cy="64008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" y="244144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query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310128" y="2779776"/>
            <a:ext cx="329184" cy="329184"/>
          </a:xfrm>
          <a:prstGeom prst="ellipse">
            <a:avLst/>
          </a:prstGeom>
          <a:solidFill>
            <a:srgbClr val="1E40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61004" y="3108960"/>
            <a:ext cx="27432" cy="6400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29" name="Shape 26"/>
          <p:cNvSpPr/>
          <p:nvPr/>
        </p:nvSpPr>
        <p:spPr>
          <a:xfrm>
            <a:off x="2606040" y="3172968"/>
            <a:ext cx="1755648" cy="1572768"/>
          </a:xfrm>
          <a:prstGeom prst="rect">
            <a:avLst/>
          </a:prstGeom>
          <a:solidFill>
            <a:srgbClr val="FFFFFF"/>
          </a:solidFill>
          <a:ln w="22860">
            <a:solidFill>
              <a:srgbClr val="1E4080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606040" y="3172968"/>
            <a:ext cx="1755648" cy="50292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1" name="Shape 28"/>
          <p:cNvSpPr/>
          <p:nvPr/>
        </p:nvSpPr>
        <p:spPr>
          <a:xfrm>
            <a:off x="2715768" y="3264408"/>
            <a:ext cx="681228" cy="201168"/>
          </a:xfrm>
          <a:prstGeom prst="roundRect">
            <a:avLst>
              <a:gd name="adj" fmla="val 18182"/>
            </a:avLst>
          </a:prstGeom>
          <a:solidFill>
            <a:srgbClr val="1E4080"/>
          </a:solidFill>
          <a:ln/>
        </p:spPr>
      </p:sp>
      <p:sp>
        <p:nvSpPr>
          <p:cNvPr id="32" name="Text 29"/>
          <p:cNvSpPr/>
          <p:nvPr/>
        </p:nvSpPr>
        <p:spPr>
          <a:xfrm>
            <a:off x="2715768" y="3264408"/>
            <a:ext cx="6812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ERA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715768" y="35021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1990–2010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715768" y="3675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</a:t>
            </a:r>
            <a:endParaRPr lang="en-US" sz="13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3520440"/>
            <a:ext cx="347472" cy="347472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2734056" y="4082796"/>
            <a:ext cx="64008" cy="64008"/>
          </a:xfrm>
          <a:prstGeom prst="ellipse">
            <a:avLst/>
          </a:prstGeom>
          <a:solidFill>
            <a:srgbClr val="1E4080"/>
          </a:solidFill>
          <a:ln/>
        </p:spPr>
      </p:sp>
      <p:sp>
        <p:nvSpPr>
          <p:cNvPr id="37" name="Text 33"/>
          <p:cNvSpPr/>
          <p:nvPr/>
        </p:nvSpPr>
        <p:spPr>
          <a:xfrm>
            <a:off x="2843784" y="401421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search engines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2734056" y="4256532"/>
            <a:ext cx="64008" cy="64008"/>
          </a:xfrm>
          <a:prstGeom prst="ellipse">
            <a:avLst/>
          </a:prstGeom>
          <a:solidFill>
            <a:srgbClr val="1E4080"/>
          </a:solidFill>
          <a:ln/>
        </p:spPr>
      </p:sp>
      <p:sp>
        <p:nvSpPr>
          <p:cNvPr id="39" name="Text 35"/>
          <p:cNvSpPr/>
          <p:nvPr/>
        </p:nvSpPr>
        <p:spPr>
          <a:xfrm>
            <a:off x="2843784" y="418795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digitization begins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2734056" y="4430268"/>
            <a:ext cx="64008" cy="64008"/>
          </a:xfrm>
          <a:prstGeom prst="ellipse">
            <a:avLst/>
          </a:prstGeom>
          <a:solidFill>
            <a:srgbClr val="1E4080"/>
          </a:solidFill>
          <a:ln/>
        </p:spPr>
      </p:sp>
      <p:sp>
        <p:nvSpPr>
          <p:cNvPr id="41" name="Text 37"/>
          <p:cNvSpPr/>
          <p:nvPr/>
        </p:nvSpPr>
        <p:spPr>
          <a:xfrm>
            <a:off x="2843784" y="436168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understanding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2734056" y="4604004"/>
            <a:ext cx="64008" cy="64008"/>
          </a:xfrm>
          <a:prstGeom prst="ellipse">
            <a:avLst/>
          </a:prstGeom>
          <a:solidFill>
            <a:srgbClr val="1E4080"/>
          </a:solidFill>
          <a:ln/>
        </p:spPr>
      </p:sp>
      <p:sp>
        <p:nvSpPr>
          <p:cNvPr id="43" name="Text 39"/>
          <p:cNvSpPr/>
          <p:nvPr/>
        </p:nvSpPr>
        <p:spPr>
          <a:xfrm>
            <a:off x="2843784" y="45354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= links only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5413248" y="2779776"/>
            <a:ext cx="329184" cy="32918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564124" y="2651760"/>
            <a:ext cx="2743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Shape 42"/>
          <p:cNvSpPr/>
          <p:nvPr/>
        </p:nvSpPr>
        <p:spPr>
          <a:xfrm>
            <a:off x="4709160" y="1078992"/>
            <a:ext cx="1755648" cy="1572768"/>
          </a:xfrm>
          <a:prstGeom prst="rect">
            <a:avLst/>
          </a:prstGeom>
          <a:solidFill>
            <a:srgbClr val="FFFFFF"/>
          </a:solidFill>
          <a:ln w="2286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4709160" y="1078992"/>
            <a:ext cx="1755648" cy="502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Shape 44"/>
          <p:cNvSpPr/>
          <p:nvPr/>
        </p:nvSpPr>
        <p:spPr>
          <a:xfrm>
            <a:off x="4818888" y="1170432"/>
            <a:ext cx="1092708" cy="201168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49" name="Text 45"/>
          <p:cNvSpPr/>
          <p:nvPr/>
        </p:nvSpPr>
        <p:spPr>
          <a:xfrm>
            <a:off x="4818888" y="1170432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4818888" y="140817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2017–2022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4818888" y="15819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Retrieval</a:t>
            </a:r>
            <a:endParaRPr lang="en-US" sz="1300" dirty="0"/>
          </a:p>
        </p:txBody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1426464"/>
            <a:ext cx="347472" cy="347472"/>
          </a:xfrm>
          <a:prstGeom prst="rect">
            <a:avLst/>
          </a:prstGeom>
        </p:spPr>
      </p:pic>
      <p:sp>
        <p:nvSpPr>
          <p:cNvPr id="53" name="Shape 48"/>
          <p:cNvSpPr/>
          <p:nvPr/>
        </p:nvSpPr>
        <p:spPr>
          <a:xfrm>
            <a:off x="4837176" y="198882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Text 49"/>
          <p:cNvSpPr/>
          <p:nvPr/>
        </p:nvSpPr>
        <p:spPr>
          <a:xfrm>
            <a:off x="4946904" y="192024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embeddings</a:t>
            </a:r>
            <a:endParaRPr lang="en-US" sz="850" dirty="0"/>
          </a:p>
        </p:txBody>
      </p:sp>
      <p:sp>
        <p:nvSpPr>
          <p:cNvPr id="55" name="Shape 50"/>
          <p:cNvSpPr/>
          <p:nvPr/>
        </p:nvSpPr>
        <p:spPr>
          <a:xfrm>
            <a:off x="4837176" y="216255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6" name="Text 51"/>
          <p:cNvSpPr/>
          <p:nvPr/>
        </p:nvSpPr>
        <p:spPr>
          <a:xfrm>
            <a:off x="4946904" y="209397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search</a:t>
            </a:r>
            <a:endParaRPr lang="en-US" sz="850" dirty="0"/>
          </a:p>
        </p:txBody>
      </p:sp>
      <p:sp>
        <p:nvSpPr>
          <p:cNvPr id="57" name="Shape 52"/>
          <p:cNvSpPr/>
          <p:nvPr/>
        </p:nvSpPr>
        <p:spPr>
          <a:xfrm>
            <a:off x="4837176" y="233629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8" name="Text 53"/>
          <p:cNvSpPr/>
          <p:nvPr/>
        </p:nvSpPr>
        <p:spPr>
          <a:xfrm>
            <a:off x="4946904" y="226771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BERT-based QA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4837176" y="251002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0" name="Text 55"/>
          <p:cNvSpPr/>
          <p:nvPr/>
        </p:nvSpPr>
        <p:spPr>
          <a:xfrm>
            <a:off x="4946904" y="244144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single-document</a:t>
            </a:r>
            <a:endParaRPr lang="en-US" sz="850" dirty="0"/>
          </a:p>
        </p:txBody>
      </p:sp>
      <p:sp>
        <p:nvSpPr>
          <p:cNvPr id="61" name="Shape 56"/>
          <p:cNvSpPr/>
          <p:nvPr/>
        </p:nvSpPr>
        <p:spPr>
          <a:xfrm>
            <a:off x="7516368" y="2779776"/>
            <a:ext cx="329184" cy="329184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7667244" y="3108960"/>
            <a:ext cx="27432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3" name="Shape 58"/>
          <p:cNvSpPr/>
          <p:nvPr/>
        </p:nvSpPr>
        <p:spPr>
          <a:xfrm>
            <a:off x="6812280" y="3172968"/>
            <a:ext cx="1755648" cy="1572768"/>
          </a:xfrm>
          <a:prstGeom prst="rect">
            <a:avLst/>
          </a:prstGeom>
          <a:solidFill>
            <a:srgbClr val="FFFFFF"/>
          </a:solidFill>
          <a:ln w="2286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64" name="Shape 59"/>
          <p:cNvSpPr/>
          <p:nvPr/>
        </p:nvSpPr>
        <p:spPr>
          <a:xfrm>
            <a:off x="6812280" y="3172968"/>
            <a:ext cx="1755648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5" name="Shape 60"/>
          <p:cNvSpPr/>
          <p:nvPr/>
        </p:nvSpPr>
        <p:spPr>
          <a:xfrm>
            <a:off x="6922008" y="3264408"/>
            <a:ext cx="886968" cy="201168"/>
          </a:xfrm>
          <a:prstGeom prst="roundRect">
            <a:avLst>
              <a:gd name="adj" fmla="val 18182"/>
            </a:avLst>
          </a:prstGeom>
          <a:solidFill>
            <a:srgbClr val="EA580C"/>
          </a:solidFill>
          <a:ln/>
        </p:spPr>
      </p:sp>
      <p:sp>
        <p:nvSpPr>
          <p:cNvPr id="66" name="Text 61"/>
          <p:cNvSpPr/>
          <p:nvPr/>
        </p:nvSpPr>
        <p:spPr>
          <a:xfrm>
            <a:off x="6922008" y="3264408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700" dirty="0"/>
          </a:p>
        </p:txBody>
      </p:sp>
      <p:sp>
        <p:nvSpPr>
          <p:cNvPr id="67" name="Text 62"/>
          <p:cNvSpPr/>
          <p:nvPr/>
        </p:nvSpPr>
        <p:spPr>
          <a:xfrm>
            <a:off x="6922008" y="35021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2023–Now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6922008" y="3675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</a:t>
            </a:r>
            <a:endParaRPr lang="en-US" sz="1300" dirty="0"/>
          </a:p>
        </p:txBody>
      </p:sp>
      <p:pic>
        <p:nvPicPr>
          <p:cNvPr id="6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3520440"/>
            <a:ext cx="347472" cy="347472"/>
          </a:xfrm>
          <a:prstGeom prst="rect">
            <a:avLst/>
          </a:prstGeom>
        </p:spPr>
      </p:pic>
      <p:sp>
        <p:nvSpPr>
          <p:cNvPr id="70" name="Shape 64"/>
          <p:cNvSpPr/>
          <p:nvPr/>
        </p:nvSpPr>
        <p:spPr>
          <a:xfrm>
            <a:off x="6940296" y="4082796"/>
            <a:ext cx="64008" cy="6400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1" name="Text 65"/>
          <p:cNvSpPr/>
          <p:nvPr/>
        </p:nvSpPr>
        <p:spPr>
          <a:xfrm>
            <a:off x="7050024" y="401421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</a:t>
            </a:r>
            <a:endParaRPr lang="en-US" sz="850" dirty="0"/>
          </a:p>
        </p:txBody>
      </p:sp>
      <p:sp>
        <p:nvSpPr>
          <p:cNvPr id="72" name="Shape 66"/>
          <p:cNvSpPr/>
          <p:nvPr/>
        </p:nvSpPr>
        <p:spPr>
          <a:xfrm>
            <a:off x="6940296" y="4256532"/>
            <a:ext cx="64008" cy="6400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3" name="Text 67"/>
          <p:cNvSpPr/>
          <p:nvPr/>
        </p:nvSpPr>
        <p:spPr>
          <a:xfrm>
            <a:off x="7050024" y="418795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</a:t>
            </a:r>
            <a:endParaRPr lang="en-US" sz="850" dirty="0"/>
          </a:p>
        </p:txBody>
      </p:sp>
      <p:sp>
        <p:nvSpPr>
          <p:cNvPr id="74" name="Shape 68"/>
          <p:cNvSpPr/>
          <p:nvPr/>
        </p:nvSpPr>
        <p:spPr>
          <a:xfrm>
            <a:off x="6940296" y="4430268"/>
            <a:ext cx="64008" cy="6400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5" name="Text 69"/>
          <p:cNvSpPr/>
          <p:nvPr/>
        </p:nvSpPr>
        <p:spPr>
          <a:xfrm>
            <a:off x="7050024" y="436168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retrieval</a:t>
            </a:r>
            <a:endParaRPr lang="en-US" sz="850" dirty="0"/>
          </a:p>
        </p:txBody>
      </p:sp>
      <p:sp>
        <p:nvSpPr>
          <p:cNvPr id="76" name="Shape 70"/>
          <p:cNvSpPr/>
          <p:nvPr/>
        </p:nvSpPr>
        <p:spPr>
          <a:xfrm>
            <a:off x="6940296" y="4604004"/>
            <a:ext cx="64008" cy="6400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7" name="Text 71"/>
          <p:cNvSpPr/>
          <p:nvPr/>
        </p:nvSpPr>
        <p:spPr>
          <a:xfrm>
            <a:off x="7050024" y="45354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 synthesis</a:t>
            </a:r>
            <a:endParaRPr lang="en-US" sz="850" dirty="0"/>
          </a:p>
        </p:txBody>
      </p:sp>
      <p:sp>
        <p:nvSpPr>
          <p:cNvPr id="78" name="Shape 72"/>
          <p:cNvSpPr/>
          <p:nvPr/>
        </p:nvSpPr>
        <p:spPr>
          <a:xfrm>
            <a:off x="6949440" y="2743200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EA580C"/>
          </a:solidFill>
          <a:ln/>
        </p:spPr>
      </p:sp>
      <p:sp>
        <p:nvSpPr>
          <p:cNvPr id="79" name="Text 73"/>
          <p:cNvSpPr/>
          <p:nvPr/>
        </p:nvSpPr>
        <p:spPr>
          <a:xfrm>
            <a:off x="6949440" y="27432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We are here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(RAG)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 responses in retrieved document evidence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" y="960120"/>
            <a:ext cx="9079992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" y="960120"/>
            <a:ext cx="4315968" cy="41833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Works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344168"/>
            <a:ext cx="6400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" y="141732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490472"/>
            <a:ext cx="310896" cy="310896"/>
          </a:xfrm>
          <a:prstGeom prst="ellipse">
            <a:avLst/>
          </a:prstGeom>
          <a:solidFill>
            <a:srgbClr val="1E4080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" y="14538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" y="165506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of standards, manuals, textbooks loaded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" y="1874520"/>
            <a:ext cx="64008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" y="1929384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00253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19659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Embedding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" y="21671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 into overlapping chunks → vector embeddings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" y="2386584"/>
            <a:ext cx="64008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592" y="2441448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251460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" y="24780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" y="26791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stored in a high-dimensional vector database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" y="2898648"/>
            <a:ext cx="64008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164592" y="2953512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3026664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" y="29900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" y="31912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embedded into same vector space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9184" y="3410712"/>
            <a:ext cx="64008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164592" y="3465576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3538728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201168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" y="35021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" y="3703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most similar chunks retrieved by cosine similarity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184" y="3922776"/>
            <a:ext cx="64008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Shape 39"/>
          <p:cNvSpPr/>
          <p:nvPr/>
        </p:nvSpPr>
        <p:spPr>
          <a:xfrm>
            <a:off x="164592" y="397764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" y="4050792"/>
            <a:ext cx="310896" cy="3108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3" name="Text 41"/>
          <p:cNvSpPr/>
          <p:nvPr/>
        </p:nvSpPr>
        <p:spPr>
          <a:xfrm>
            <a:off x="201168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" y="40142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Generation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5216" y="42153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 grounded in retrieved context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379976" y="960120"/>
            <a:ext cx="4764024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1051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Opportunities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26280" y="1344168"/>
            <a:ext cx="82296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9" name="Shape 47"/>
          <p:cNvSpPr/>
          <p:nvPr/>
        </p:nvSpPr>
        <p:spPr>
          <a:xfrm>
            <a:off x="4462272" y="1417320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62272" y="1417320"/>
            <a:ext cx="50292" cy="7955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1" name="Text 49"/>
          <p:cNvSpPr/>
          <p:nvPr/>
        </p:nvSpPr>
        <p:spPr>
          <a:xfrm>
            <a:off x="4590288" y="1472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90288" y="1700784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Fixed-size chunking severs semantic context mid-sentence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90288" y="191109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Semantic, layout-aware chunking per document type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62272" y="2304288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462272" y="2304288"/>
            <a:ext cx="50292" cy="7955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6" name="Text 54"/>
          <p:cNvSpPr/>
          <p:nvPr/>
        </p:nvSpPr>
        <p:spPr>
          <a:xfrm>
            <a:off x="4590288" y="23591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Depth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90288" y="258775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Single-vector lookup misses cross-modal &amp; implicit links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90288" y="279806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Hybrid retrieval: dense + sparse + structural signals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462272" y="3191256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462272" y="3191256"/>
            <a:ext cx="50292" cy="7955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1" name="Text 59"/>
          <p:cNvSpPr/>
          <p:nvPr/>
        </p:nvSpPr>
        <p:spPr>
          <a:xfrm>
            <a:off x="4590288" y="32461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590288" y="3474720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Flat retrieval cannot chain evidence across documents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90288" y="368503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Agentic iterative retrieval with explicit reasoning steps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462272" y="4078224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462272" y="4078224"/>
            <a:ext cx="50292" cy="7955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6" name="Text 64"/>
          <p:cNvSpPr/>
          <p:nvPr/>
        </p:nvSpPr>
        <p:spPr>
          <a:xfrm>
            <a:off x="4590288" y="41330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Coverage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590288" y="4361688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Text-only embeddings lose tables, equations, figures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590288" y="45720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Multimodal embeddings + dedicated parsers per modality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semantic networks over engineering concepts and relationships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" y="960120"/>
            <a:ext cx="9079992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" y="960120"/>
            <a:ext cx="4315968" cy="41833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344168"/>
            <a:ext cx="6400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673352" y="2395728"/>
            <a:ext cx="1188720" cy="694944"/>
          </a:xfrm>
          <a:prstGeom prst="ellipse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73352" y="239572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1664208"/>
            <a:ext cx="1417320" cy="566928"/>
          </a:xfrm>
          <a:prstGeom prst="rect">
            <a:avLst/>
          </a:prstGeom>
          <a:solidFill>
            <a:srgbClr val="F7F9FC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664208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16642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 4287)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68730" y="22539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defined_by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337560" y="1664208"/>
            <a:ext cx="1417320" cy="566928"/>
          </a:xfrm>
          <a:prstGeom prst="rect">
            <a:avLst/>
          </a:prstGeom>
          <a:solidFill>
            <a:srgbClr val="F7F9FC"/>
          </a:solidFill>
          <a:ln w="19050">
            <a:solidFill>
              <a:srgbClr val="1E4080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664208"/>
            <a:ext cx="54864" cy="56692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6642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5486" y="22539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described_by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84048" y="3547872"/>
            <a:ext cx="1417320" cy="566928"/>
          </a:xfrm>
          <a:prstGeom prst="rect">
            <a:avLst/>
          </a:prstGeom>
          <a:solidFill>
            <a:srgbClr val="F7F9FC"/>
          </a:solidFill>
          <a:ln w="19050">
            <a:solidFill>
              <a:srgbClr val="1E4080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547872"/>
            <a:ext cx="54864" cy="56692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5478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68730" y="31958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constrained_by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337560" y="3547872"/>
            <a:ext cx="1417320" cy="566928"/>
          </a:xfrm>
          <a:prstGeom prst="rect">
            <a:avLst/>
          </a:prstGeom>
          <a:solidFill>
            <a:srgbClr val="F7F9FC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547872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5478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/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5486" y="31958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illustrated_in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01168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4517136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4531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traversal across linked entities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469087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6268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/ Cypher query for precise lookups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1168" y="486460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800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relationship semantics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79976" y="960120"/>
            <a:ext cx="4764024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1051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Opportunities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26280" y="1344168"/>
            <a:ext cx="82296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9" name="Shape 37"/>
          <p:cNvSpPr/>
          <p:nvPr/>
        </p:nvSpPr>
        <p:spPr>
          <a:xfrm>
            <a:off x="4462272" y="1417320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62272" y="1417320"/>
            <a:ext cx="50292" cy="7955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590288" y="1472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Ontology Curation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90288" y="1700784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Domain experts define schemas by hand — slow and rigid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90288" y="191109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LLM-assisted automated ontology extraction from documents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62272" y="2304288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62272" y="2304288"/>
            <a:ext cx="50292" cy="7955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4590288" y="23591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Limitations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90288" y="258775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Symbolic traversal cannot handle vague or implicit queries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90288" y="279806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Neurosymbolic fusion: LLM interprets, KG provides grounding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462272" y="3191256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62272" y="3191256"/>
            <a:ext cx="50292" cy="7955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4590288" y="32461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Overhead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90288" y="3474720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New standards or revisions require manual re-linking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90288" y="368503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Auto-incremental updates with LLM-driven consistency checks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62272" y="4078224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462272" y="4078224"/>
            <a:ext cx="50292" cy="7955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/>
          <p:nvPr/>
        </p:nvSpPr>
        <p:spPr>
          <a:xfrm>
            <a:off x="4590288" y="41330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Gaps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90288" y="4361688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Most KGs are text-only; figures and equations are excluded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90288" y="45720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Multimodal entity nodes with vision-language embedding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PageRank-Inspired Indexing (PageIndex)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Authority-weighted retrieval using document citation and cross-reference graphs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" y="960120"/>
            <a:ext cx="9079992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" y="960120"/>
            <a:ext cx="4315968" cy="41833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PageIndex Works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344168"/>
            <a:ext cx="64008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" y="1417320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508760"/>
            <a:ext cx="310896" cy="310896"/>
          </a:xfrm>
          <a:prstGeom prst="ellipse">
            <a:avLst/>
          </a:prstGeom>
          <a:solidFill>
            <a:srgbClr val="1E4080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" y="14721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Citation Graph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" y="16733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sections/pages; edges = cross-refs &amp; citations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" y="1920240"/>
            <a:ext cx="64008" cy="640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" y="1984248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075688"/>
            <a:ext cx="310896" cy="310896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20391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Authority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" y="22402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iterations distribute importance via in-links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" y="2487168"/>
            <a:ext cx="64008" cy="640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592" y="2551176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264261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" y="26060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Normalization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" y="280720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adjusted per section length and document tier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" y="3054096"/>
            <a:ext cx="64008" cy="640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164592" y="3118104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3209544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" y="31729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Score-Weighted Index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" y="337413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High-authority sections promoted in retrieval rankings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9184" y="3621024"/>
            <a:ext cx="64008" cy="640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164592" y="3685032"/>
            <a:ext cx="41148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3776472"/>
            <a:ext cx="310896" cy="3108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201168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" y="37398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Ranking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" y="394106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= semantic similarity × authority weight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01168" y="4297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Authority Flow: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535424"/>
            <a:ext cx="512064" cy="512064"/>
          </a:xfrm>
          <a:prstGeom prst="ellipse">
            <a:avLst/>
          </a:prstGeom>
          <a:solidFill>
            <a:srgbClr val="0A1628"/>
          </a:solidFill>
          <a:ln/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9001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1280160" y="4636008"/>
            <a:ext cx="329184" cy="329184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28016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2011680" y="4572000"/>
            <a:ext cx="237744" cy="237744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011680" y="4572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2651760" y="4663440"/>
            <a:ext cx="182880" cy="182880"/>
          </a:xfrm>
          <a:prstGeom prst="ellipse">
            <a:avLst/>
          </a:prstGeom>
          <a:solidFill>
            <a:srgbClr val="CBD5E1"/>
          </a:solidFill>
          <a:ln/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651760" y="4663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292608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size = authority score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379976" y="960120"/>
            <a:ext cx="4764024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1" name="Text 49"/>
          <p:cNvSpPr/>
          <p:nvPr/>
        </p:nvSpPr>
        <p:spPr>
          <a:xfrm>
            <a:off x="4526280" y="1051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Opportunities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26280" y="1344168"/>
            <a:ext cx="82296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3" name="Shape 51"/>
          <p:cNvSpPr/>
          <p:nvPr/>
        </p:nvSpPr>
        <p:spPr>
          <a:xfrm>
            <a:off x="4462272" y="1417320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462272" y="1417320"/>
            <a:ext cx="50292" cy="7955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5" name="Text 53"/>
          <p:cNvSpPr/>
          <p:nvPr/>
        </p:nvSpPr>
        <p:spPr>
          <a:xfrm>
            <a:off x="4590288" y="1472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Scalability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90288" y="1700784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Iterative propagation is expensive at large corpus scale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590288" y="191109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Approximate PageRank + incremental graph updates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462272" y="2304288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462272" y="2304288"/>
            <a:ext cx="50292" cy="7955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0" name="Text 58"/>
          <p:cNvSpPr/>
          <p:nvPr/>
        </p:nvSpPr>
        <p:spPr>
          <a:xfrm>
            <a:off x="4590288" y="23591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590288" y="258775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Re-ranking with full LLM context windows is costly per query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590288" y="279806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Cascaded ranking: authority pre-filter then LLM re-rank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462272" y="3191256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462272" y="3191256"/>
            <a:ext cx="50292" cy="7955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5" name="Text 63"/>
          <p:cNvSpPr/>
          <p:nvPr/>
        </p:nvSpPr>
        <p:spPr>
          <a:xfrm>
            <a:off x="4590288" y="32461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Graph Brittleness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590288" y="3474720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Adding new documents requires partial re-computation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590288" y="368503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Dynamic graph with streaming updates as docs are ingested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462272" y="4078224"/>
            <a:ext cx="45262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63500" dist="25400" dir="8100000">
              <a:srgbClr val="0A1628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462272" y="4078224"/>
            <a:ext cx="50292" cy="7955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0" name="Text 68"/>
          <p:cNvSpPr/>
          <p:nvPr/>
        </p:nvSpPr>
        <p:spPr>
          <a:xfrm>
            <a:off x="4590288" y="41330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Relevance Bias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590288" y="4361688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Highly cited sections rank high regardless of query intent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590288" y="45720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Personalized PageRank seeded by query vector for relevance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Large Language Models?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 that transforms retrieval into reasoning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" y="960120"/>
            <a:ext cx="9079992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" y="1051560"/>
            <a:ext cx="2880360" cy="18653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051560"/>
            <a:ext cx="2880360" cy="50292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16128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4944" y="11430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92608" y="1581912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parse dense engineering prose, technical jargon, and ambiguous specification language — bridging the gap between natural language queries and formal document content.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82112" y="1051560"/>
            <a:ext cx="2880360" cy="18653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1051560"/>
            <a:ext cx="2880360" cy="5029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1612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12464" y="11430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Reasoning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10128" y="1581912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interpreting text descriptions of figures, equation annotations, and table headers in unified context, LLMs synthesize evidence that no single retrieval modality can provide alone.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199632" y="1051560"/>
            <a:ext cx="2880360" cy="18653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1051560"/>
            <a:ext cx="2880360" cy="50292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16128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9984" y="11430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Adaptation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327648" y="1581912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allows LLMs to adopt domain conventions — e.g., interpreting 'FoS' as Factor of Safety — without domain-specific fine-tuning or retraining.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164592" y="3044952"/>
            <a:ext cx="2880360" cy="18653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64592" y="3044952"/>
            <a:ext cx="2880360" cy="50292"/>
          </a:xfrm>
          <a:prstGeom prst="rect">
            <a:avLst/>
          </a:prstGeom>
          <a:solidFill>
            <a:srgbClr val="1E408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15468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4944" y="313639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&amp; Planning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292608" y="3575304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decide which retrieval module to invoke (RAG, KG, PageIndex), in what order, and how to combine results — acting as the orchestrator of a modular pipeline.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182112" y="3044952"/>
            <a:ext cx="2880360" cy="18653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182112" y="3044952"/>
            <a:ext cx="2880360" cy="5029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15468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712464" y="313639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Grounding &amp; Citation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3310128" y="3575304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generic chatbots, a grounded LLM traces every claim back to a source chunk, clause, or figure — essential for engineering accountability and traceability.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6199632" y="3044952"/>
            <a:ext cx="2880360" cy="18653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99632" y="3044952"/>
            <a:ext cx="2880360" cy="50292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154680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29984" y="313639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6327648" y="3575304"/>
            <a:ext cx="2651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initial retrieval is insufficient, LLMs can reformulate queries, request additional context, and iteratively narrow in — mimicking expert research behaviour.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64008" y="4718304"/>
            <a:ext cx="9079992" cy="42519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1"/>
          <p:cNvSpPr/>
          <p:nvPr/>
        </p:nvSpPr>
        <p:spPr>
          <a:xfrm>
            <a:off x="228600" y="4745736"/>
            <a:ext cx="8686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LLMs are the orchestration intelligence — they do not replace RAG, Knowledge Graphs, or PageIndex. Each module provides irreplaceable structure; the LLM decides how to combine them.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Proposed: Agentic Modular RAG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inspiration from RAG, Knowledge Graphs and PageIndex — unified by LLM orchestration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" y="960120"/>
            <a:ext cx="9079992" cy="41833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042416"/>
            <a:ext cx="7498080" cy="530352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0642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042416"/>
            <a:ext cx="6748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Engineering Document Corpus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89888" y="1371600"/>
            <a:ext cx="6748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 ·  Design Manuals  ·  Textbooks  ·  Research Papers  ·  Technical Reports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44568" y="1572768"/>
            <a:ext cx="54864" cy="274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1847088"/>
            <a:ext cx="7498080" cy="530352"/>
          </a:xfrm>
          <a:prstGeom prst="rect">
            <a:avLst/>
          </a:prstGeom>
          <a:solidFill>
            <a:srgbClr val="1B3358"/>
          </a:solidFill>
          <a:ln/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5156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Parser &amp; Intelligent Chunker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51560" y="2194560"/>
            <a:ext cx="982980" cy="1463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2194560"/>
            <a:ext cx="9829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Blocks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125980" y="2194560"/>
            <a:ext cx="640080" cy="1463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2125980" y="21945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2857500" y="2194560"/>
            <a:ext cx="845820" cy="1463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2857500" y="2194560"/>
            <a:ext cx="8458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3794760" y="2194560"/>
            <a:ext cx="708660" cy="1463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3794760" y="2194560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594860" y="2194560"/>
            <a:ext cx="914400" cy="1463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4594860" y="219456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Cross-Refs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544568" y="2377440"/>
            <a:ext cx="54864" cy="18288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26" name="Shape 23"/>
          <p:cNvSpPr/>
          <p:nvPr/>
        </p:nvSpPr>
        <p:spPr>
          <a:xfrm>
            <a:off x="1645920" y="2560320"/>
            <a:ext cx="5852160" cy="45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4"/>
          <p:cNvSpPr/>
          <p:nvPr/>
        </p:nvSpPr>
        <p:spPr>
          <a:xfrm>
            <a:off x="1673352" y="2606040"/>
            <a:ext cx="45720" cy="20116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5"/>
          <p:cNvSpPr/>
          <p:nvPr/>
        </p:nvSpPr>
        <p:spPr>
          <a:xfrm>
            <a:off x="4544568" y="2606040"/>
            <a:ext cx="45720" cy="20116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6"/>
          <p:cNvSpPr/>
          <p:nvPr/>
        </p:nvSpPr>
        <p:spPr>
          <a:xfrm>
            <a:off x="7443216" y="2606040"/>
            <a:ext cx="45720" cy="20116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7"/>
          <p:cNvSpPr/>
          <p:nvPr/>
        </p:nvSpPr>
        <p:spPr>
          <a:xfrm>
            <a:off x="274320" y="2807208"/>
            <a:ext cx="283464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2807208"/>
            <a:ext cx="2834640" cy="594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29"/>
          <p:cNvSpPr/>
          <p:nvPr/>
        </p:nvSpPr>
        <p:spPr>
          <a:xfrm>
            <a:off x="402336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RAG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02336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 retrieval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dense embeddings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227832" y="2807208"/>
            <a:ext cx="283464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80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27832" y="2807208"/>
            <a:ext cx="2834640" cy="59436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6" name="Text 33"/>
          <p:cNvSpPr/>
          <p:nvPr/>
        </p:nvSpPr>
        <p:spPr>
          <a:xfrm>
            <a:off x="3355848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Store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3355848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 traversal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structured reasoning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181344" y="2807208"/>
            <a:ext cx="283464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181344" y="2807208"/>
            <a:ext cx="2834640" cy="5943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0" name="Text 37"/>
          <p:cNvSpPr/>
          <p:nvPr/>
        </p:nvSpPr>
        <p:spPr>
          <a:xfrm>
            <a:off x="630936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PageIndex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 Scores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309360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Citation-weighted ranking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document importance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673352" y="3685032"/>
            <a:ext cx="45720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3" name="Shape 40"/>
          <p:cNvSpPr/>
          <p:nvPr/>
        </p:nvSpPr>
        <p:spPr>
          <a:xfrm>
            <a:off x="4544568" y="3685032"/>
            <a:ext cx="45720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Shape 41"/>
          <p:cNvSpPr/>
          <p:nvPr/>
        </p:nvSpPr>
        <p:spPr>
          <a:xfrm>
            <a:off x="7443216" y="3685032"/>
            <a:ext cx="45720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5" name="Shape 42"/>
          <p:cNvSpPr/>
          <p:nvPr/>
        </p:nvSpPr>
        <p:spPr>
          <a:xfrm>
            <a:off x="1673352" y="3849624"/>
            <a:ext cx="5824728" cy="45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6" name="Shape 43"/>
          <p:cNvSpPr/>
          <p:nvPr/>
        </p:nvSpPr>
        <p:spPr>
          <a:xfrm>
            <a:off x="4544568" y="3849624"/>
            <a:ext cx="45720" cy="1737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Shape 44"/>
          <p:cNvSpPr/>
          <p:nvPr/>
        </p:nvSpPr>
        <p:spPr>
          <a:xfrm>
            <a:off x="822960" y="4023360"/>
            <a:ext cx="7498080" cy="658368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127000" dist="50800" dir="8100000">
              <a:srgbClr val="0A1628">
                <a:alpha val="10000"/>
              </a:srgbClr>
            </a:outerShdw>
          </a:effectLst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087368"/>
            <a:ext cx="420624" cy="420624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1463040" y="4023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Orchestrator Agent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1463040" y="433425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retrieval strategy · Fuses cross-modal evidence · Iteratively refines · Synthesizes grounded answer with citations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4544568" y="4681728"/>
            <a:ext cx="45720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2" name="Shape 48"/>
          <p:cNvSpPr/>
          <p:nvPr/>
        </p:nvSpPr>
        <p:spPr>
          <a:xfrm>
            <a:off x="2468880" y="4828032"/>
            <a:ext cx="4206240" cy="237744"/>
          </a:xfrm>
          <a:prstGeom prst="roundRect">
            <a:avLst>
              <a:gd name="adj" fmla="val 19231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4846320"/>
            <a:ext cx="182880" cy="182880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816352" y="4828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Multimodal Answer with Traceable Source Citations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2026-05-14T05:47:11Z</dcterms:created>
  <dcterms:modified xsi:type="dcterms:W3CDTF">2026-05-14T05:47:11Z</dcterms:modified>
</cp:coreProperties>
</file>